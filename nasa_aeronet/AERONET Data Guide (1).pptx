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tmp" ContentType="image/png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ink/ink1.xml" ContentType="application/inkml+xml"/>
  <Override PartName="/ppt/ink/ink2.xml" ContentType="application/inkml+xml"/>
  <Override PartName="/ppt/ink/ink3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8"/>
  </p:notesMasterIdLst>
  <p:sldIdLst>
    <p:sldId id="256" r:id="rId2"/>
    <p:sldId id="286" r:id="rId3"/>
    <p:sldId id="287" r:id="rId4"/>
    <p:sldId id="257" r:id="rId5"/>
    <p:sldId id="277" r:id="rId6"/>
    <p:sldId id="289" r:id="rId7"/>
    <p:sldId id="288" r:id="rId8"/>
    <p:sldId id="280" r:id="rId9"/>
    <p:sldId id="290" r:id="rId10"/>
    <p:sldId id="292" r:id="rId11"/>
    <p:sldId id="293" r:id="rId12"/>
    <p:sldId id="294" r:id="rId13"/>
    <p:sldId id="295" r:id="rId14"/>
    <p:sldId id="296" r:id="rId15"/>
    <p:sldId id="297" r:id="rId16"/>
    <p:sldId id="270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E269D01E-BC32-4049-B463-5C60D7B0CCD2}" styleName="Themed Style 2 - Accent 4">
    <a:tblBg>
      <a:fillRef idx="3">
        <a:schemeClr val="accent4"/>
      </a:fillRef>
      <a:effectRef idx="3">
        <a:schemeClr val="accent4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4">
                <a:tint val="50000"/>
              </a:schemeClr>
            </a:lnRef>
          </a:left>
          <a:right>
            <a:lnRef idx="1">
              <a:schemeClr val="accent4">
                <a:tint val="50000"/>
              </a:schemeClr>
            </a:lnRef>
          </a:right>
          <a:top>
            <a:lnRef idx="1">
              <a:schemeClr val="accent4">
                <a:tint val="50000"/>
              </a:schemeClr>
            </a:lnRef>
          </a:top>
          <a:bottom>
            <a:lnRef idx="1">
              <a:schemeClr val="accent4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4754" autoAdjust="0"/>
    <p:restoredTop sz="95706" autoAdjust="0"/>
  </p:normalViewPr>
  <p:slideViewPr>
    <p:cSldViewPr snapToGrid="0">
      <p:cViewPr>
        <p:scale>
          <a:sx n="89" d="100"/>
          <a:sy n="89" d="100"/>
        </p:scale>
        <p:origin x="72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07T16:13:19.41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9718 1 23527,'-9718'2320'0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07T16:14:24.44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376 1 24044,'-375'497'0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07T16:14:37.89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568 140 24012,'-567'-140'0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832DAD6-5164-475B-930A-BB9C08A55D9C}" type="datetimeFigureOut">
              <a:rPr lang="en-US" smtClean="0"/>
              <a:t>8/6/2025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C740A00-0809-489C-986C-C0A491241B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683510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822209-9AE9-E7B8-3004-0196DAE4791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FB09C5E-8620-7713-0965-722FE2EE3E3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479700-BA9B-69AE-A3BE-94C4DC66A1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902F03-680C-4625-B337-02055C786090}" type="datetimeFigureOut">
              <a:rPr lang="en-US" smtClean="0"/>
              <a:t>8/6/2025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3471324-97C2-A9C3-B9B1-2B49B0E8A8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B57F88-118D-C0B9-B0BF-71A9566383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E38E6B-1E0B-49BF-93F3-EFBCF65631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2677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83238F-EA05-CAA7-670C-4B0A66F5DE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F997FB-3E5A-C81C-1A89-52A28AF018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A5B98DD-2962-0ABA-9E6A-A117AE8F72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902F03-680C-4625-B337-02055C786090}" type="datetimeFigureOut">
              <a:rPr lang="en-US" smtClean="0"/>
              <a:t>8/6/2025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7543744-291B-61F5-AC0B-350CCDD3FC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73B8658-C106-DECB-F8C1-D079224596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E38E6B-1E0B-49BF-93F3-EFBCF65631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24071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DB7992-9E22-0C67-3074-F365194B5E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5F5843-71AD-0A45-0C94-65588D39F25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CD2F2B-6684-538C-1B71-5686F439B0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902F03-680C-4625-B337-02055C786090}" type="datetimeFigureOut">
              <a:rPr lang="en-US" smtClean="0"/>
              <a:t>8/6/2025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4CA129-8CF4-E7BA-6BDD-C1B5D9FEA5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2B71E21-31A8-EC16-0D4C-50DED22128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E38E6B-1E0B-49BF-93F3-EFBCF65631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31093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6ABD77-DC9E-E5FF-A5C8-A7D38D1221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823086-1535-26D3-D9FD-E372B5A0369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27DB234-AA21-FB21-AD2E-F135FF3C2FB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0EDC118-B428-56D9-9F23-381BDCD705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902F03-680C-4625-B337-02055C786090}" type="datetimeFigureOut">
              <a:rPr lang="en-US" smtClean="0"/>
              <a:t>8/6/2025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F9B9171-43BD-3BD6-A04C-B90994E906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4823C9C-E5A9-8D1F-269B-AF42636825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E38E6B-1E0B-49BF-93F3-EFBCF65631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36463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177953-D273-0893-3120-8A8316211E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417CF39-BD66-C7F0-5891-A4615EFB016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13C9349-857D-E3FB-E105-972947929F0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DC11694-74E1-CC05-41E1-AC28A1F0E15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CB6C640-A1C8-9815-1A37-98E628D746F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4569E5C-6164-6B2A-6D59-87A3688467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902F03-680C-4625-B337-02055C786090}" type="datetimeFigureOut">
              <a:rPr lang="en-US" smtClean="0"/>
              <a:t>8/6/2025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284E021-A909-88CF-5680-A7A0155DEB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846FF52-4815-B397-EB98-0E6EF7E218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E38E6B-1E0B-49BF-93F3-EFBCF65631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75815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00DB32-0EE6-95AC-4634-0B53BBC55B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A110A52-B74D-DDBE-5CA3-D02BEA9E80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902F03-680C-4625-B337-02055C786090}" type="datetimeFigureOut">
              <a:rPr lang="en-US" smtClean="0"/>
              <a:t>8/6/2025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3759C3C-8515-F1E6-2FC5-1D787A6467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87CCCAB-9B72-CB7C-4D1F-4908DB2B5C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E38E6B-1E0B-49BF-93F3-EFBCF65631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26191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AFBF69B-AF9B-B03B-BE4D-9A0916E50C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902F03-680C-4625-B337-02055C786090}" type="datetimeFigureOut">
              <a:rPr lang="en-US" smtClean="0"/>
              <a:t>8/6/2025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28D2895-5EEB-A2A7-65C8-CD19CE4714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6BBE7BF-AAA3-0186-5491-AB21352756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E38E6B-1E0B-49BF-93F3-EFBCF65631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22396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5FBE0B-F1B2-9BFB-0C4C-E601E7D7FE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91993D-CAB9-6C17-C6F4-85797B8882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C65C91F-4BD6-1CB1-C10E-A662B943CF3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741EE96-B20A-AC35-F857-8078717BC3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902F03-680C-4625-B337-02055C786090}" type="datetimeFigureOut">
              <a:rPr lang="en-US" smtClean="0"/>
              <a:t>8/6/2025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20255B3-89A4-4BEA-45C9-605E35775E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3D61505-A73A-82AE-9F83-9A267E7809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E38E6B-1E0B-49BF-93F3-EFBCF65631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47006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630051-D0BA-123E-FEEB-7F55C12DB9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4C690DE-D029-536E-BBAF-D21CB09EA8B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DA69BA2-E481-881D-E467-AD32025CE4E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4019E6B-CA72-48C8-18FE-150E08EA8A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902F03-680C-4625-B337-02055C786090}" type="datetimeFigureOut">
              <a:rPr lang="en-US" smtClean="0"/>
              <a:t>8/6/2025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888F1B7-D492-297B-35F3-19DBD38A70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3F2D330-F106-6A6B-9B79-1E1D84E69C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E38E6B-1E0B-49BF-93F3-EFBCF65631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20422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6ECBC6-7991-73CB-36B7-C62353A029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39A27E6-8EA9-CCFA-6064-65AA81B43D2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8D4983E-AEAE-43D0-FA4F-86BC37CA16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902F03-680C-4625-B337-02055C786090}" type="datetimeFigureOut">
              <a:rPr lang="en-US" smtClean="0"/>
              <a:t>8/6/2025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8E7199-14A4-AACE-08F4-DB421556B8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68A9CEE-AF17-4837-6009-E8F3826460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E38E6B-1E0B-49BF-93F3-EFBCF65631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77694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963DAA7-D288-C5A2-EFB1-1B2C5762458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F9370ED-DE5B-70E5-E049-6E17B30A668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F2F5231-654F-BFB5-31D1-70BF5F7095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902F03-680C-4625-B337-02055C786090}" type="datetimeFigureOut">
              <a:rPr lang="en-US" smtClean="0"/>
              <a:t>8/6/2025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1B036E1-7CE7-FD6F-8E96-9A85F6347C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1D641F1-76BB-24B3-D39D-24C92BF441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E38E6B-1E0B-49BF-93F3-EFBCF65631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22351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2C78758-9B22-99B4-4A7B-DD1FBD4C3C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A772A64-DBC0-48EC-E518-D41612FB191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C0CE82-4BA9-0E97-36C6-DF77E4B324C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A902F03-680C-4625-B337-02055C786090}" type="datetimeFigureOut">
              <a:rPr lang="en-US" smtClean="0"/>
              <a:t>8/6/2025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69C85FB-B046-0008-6A4A-18C910AD806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B8ECE9-D802-6446-F769-12D3DC6F9E3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1E38E6B-1E0B-49BF-93F3-EFBCF65631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25880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hyperlink" Target="https://aeronet.gsfc.nasa.gov/cgi-bin/draw_map_display_aod_v3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customXml" Target="../ink/ink1.xml"/><Relationship Id="rId7" Type="http://schemas.openxmlformats.org/officeDocument/2006/relationships/customXml" Target="../ink/ink3.xml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6.png"/><Relationship Id="rId5" Type="http://schemas.openxmlformats.org/officeDocument/2006/relationships/customXml" Target="../ink/ink2.xml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tmp"/><Relationship Id="rId2" Type="http://schemas.openxmlformats.org/officeDocument/2006/relationships/image" Target="../media/image11.tmp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tmp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0.pn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F64097-7F73-6502-F672-969E398E2D6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Getting Started with AERONET: Downloading and Analyzing Aerosol Data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BDABB77-FE37-AC85-3C17-88CC7F57B33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lnSpcReduction="10000"/>
          </a:bodyPr>
          <a:lstStyle/>
          <a:p>
            <a:r>
              <a:rPr lang="en-US" b="1" dirty="0"/>
              <a:t>Tucson, University of Arizona </a:t>
            </a:r>
          </a:p>
          <a:p>
            <a:r>
              <a:rPr lang="en-US" dirty="0"/>
              <a:t> </a:t>
            </a:r>
            <a:r>
              <a:rPr lang="en-US" b="1" dirty="0"/>
              <a:t>Aerosol Robotic Network</a:t>
            </a:r>
          </a:p>
          <a:p>
            <a:r>
              <a:rPr lang="en-US" dirty="0"/>
              <a:t>Armin Sorooshian</a:t>
            </a:r>
          </a:p>
          <a:p>
            <a:r>
              <a:rPr lang="en-US" dirty="0"/>
              <a:t>Soodabeh Namdari (soodabeh.namdari.rs@gmail.com)</a:t>
            </a:r>
          </a:p>
          <a:p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5C71776-98C2-1FD0-BABD-8B26D108F0F9}"/>
              </a:ext>
            </a:extLst>
          </p:cNvPr>
          <p:cNvSpPr txBox="1"/>
          <p:nvPr/>
        </p:nvSpPr>
        <p:spPr>
          <a:xfrm>
            <a:off x="1117600" y="5748867"/>
            <a:ext cx="182755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August 2025</a:t>
            </a:r>
          </a:p>
        </p:txBody>
      </p:sp>
    </p:spTree>
    <p:extLst>
      <p:ext uri="{BB962C8B-B14F-4D97-AF65-F5344CB8AC3E}">
        <p14:creationId xmlns:p14="http://schemas.microsoft.com/office/powerpoint/2010/main" val="38813384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6DBA91F7-C91C-B7F3-98C9-C64508F14F1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7001" r="1930"/>
          <a:stretch>
            <a:fillRect/>
          </a:stretch>
        </p:blipFill>
        <p:spPr>
          <a:xfrm>
            <a:off x="6813136" y="201531"/>
            <a:ext cx="5378864" cy="2834640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4ADC4DB-CE26-9EBF-7E65-197F7D5759D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199" y="3081528"/>
            <a:ext cx="12171801" cy="5087927"/>
          </a:xfrm>
        </p:spPr>
        <p:txBody>
          <a:bodyPr>
            <a:normAutofit/>
          </a:bodyPr>
          <a:lstStyle/>
          <a:p>
            <a:endParaRPr lang="en-US" sz="2400" dirty="0"/>
          </a:p>
          <a:p>
            <a:pPr marL="0" indent="0">
              <a:buNone/>
            </a:pPr>
            <a:r>
              <a:rPr lang="en-US" sz="2400" b="1" dirty="0">
                <a:solidFill>
                  <a:srgbClr val="C00000"/>
                </a:solidFill>
              </a:rPr>
              <a:t>Purpose of AERONET:</a:t>
            </a:r>
          </a:p>
          <a:p>
            <a:r>
              <a:rPr lang="en-US" sz="2400" dirty="0"/>
              <a:t>Long-term, accurate, and calibrated aerosol data for validation of satellite retrievals and models.</a:t>
            </a:r>
          </a:p>
          <a:p>
            <a:r>
              <a:rPr lang="en-US" sz="2400" dirty="0"/>
              <a:t>Useful in air quality studies, climate change, and remote sensing.</a:t>
            </a:r>
          </a:p>
          <a:p>
            <a:r>
              <a:rPr lang="en-US" sz="2400" dirty="0"/>
              <a:t>Long-term, continuous, and easily available public domain database of aerosol optical </a:t>
            </a:r>
          </a:p>
          <a:p>
            <a:r>
              <a:rPr lang="en-US" sz="2400" dirty="0"/>
              <a:t>Microphysical, and radiative characteristics for aerosol research and characterization, </a:t>
            </a:r>
          </a:p>
          <a:p>
            <a:r>
              <a:rPr lang="en-US" sz="2400" dirty="0"/>
              <a:t>Satellite retrieval validation, and database synergism for over 25 years. </a:t>
            </a:r>
          </a:p>
          <a:p>
            <a:endParaRPr lang="en-US" sz="2400" dirty="0"/>
          </a:p>
        </p:txBody>
      </p:sp>
      <p:sp>
        <p:nvSpPr>
          <p:cNvPr id="9" name="Content Placeholder 3">
            <a:extLst>
              <a:ext uri="{FF2B5EF4-FFF2-40B4-BE49-F238E27FC236}">
                <a16:creationId xmlns:a16="http://schemas.microsoft.com/office/drawing/2014/main" id="{4E2CF3E8-F0A3-E9BF-A5AB-F6497D57F212}"/>
              </a:ext>
            </a:extLst>
          </p:cNvPr>
          <p:cNvSpPr txBox="1">
            <a:spLocks/>
          </p:cNvSpPr>
          <p:nvPr/>
        </p:nvSpPr>
        <p:spPr>
          <a:xfrm>
            <a:off x="0" y="379821"/>
            <a:ext cx="7141464" cy="490963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2400" b="1" dirty="0">
                <a:solidFill>
                  <a:srgbClr val="C00000"/>
                </a:solidFill>
              </a:rPr>
              <a:t>What is AERONET?</a:t>
            </a:r>
          </a:p>
          <a:p>
            <a:r>
              <a:rPr lang="en-US" sz="2400" dirty="0"/>
              <a:t>NASA's Aerosol Robotic Network, a global network of ground-based sun photometers. Covers hundreds of stations worldwide.</a:t>
            </a:r>
          </a:p>
          <a:p>
            <a:r>
              <a:rPr lang="en-US" sz="2400" dirty="0"/>
              <a:t>Measures Aerosol Optical Depth (AOD) and related aerosol properties.</a:t>
            </a:r>
          </a:p>
          <a:p>
            <a:endParaRPr lang="en-US" sz="24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3592B39-C188-2226-8403-069534F3B63F}"/>
              </a:ext>
            </a:extLst>
          </p:cNvPr>
          <p:cNvSpPr txBox="1"/>
          <p:nvPr/>
        </p:nvSpPr>
        <p:spPr>
          <a:xfrm>
            <a:off x="7393379" y="2961031"/>
            <a:ext cx="614412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/>
              <a:t>AERONET location around the globe</a:t>
            </a:r>
          </a:p>
        </p:txBody>
      </p:sp>
    </p:spTree>
    <p:extLst>
      <p:ext uri="{BB962C8B-B14F-4D97-AF65-F5344CB8AC3E}">
        <p14:creationId xmlns:p14="http://schemas.microsoft.com/office/powerpoint/2010/main" val="154411600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5AC02C-A0FE-ED18-AAF7-12288A6A57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3709" y="-287601"/>
            <a:ext cx="10515600" cy="1325563"/>
          </a:xfrm>
        </p:spPr>
        <p:txBody>
          <a:bodyPr/>
          <a:lstStyle/>
          <a:p>
            <a:r>
              <a:rPr lang="en-US" dirty="0">
                <a:solidFill>
                  <a:srgbClr val="C00000"/>
                </a:solidFill>
              </a:rPr>
              <a:t>What Does AERONET Measure?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E5B25D85-8976-EB4D-702C-B820DC01C9F7}"/>
              </a:ext>
            </a:extLst>
          </p:cNvPr>
          <p:cNvSpPr txBox="1">
            <a:spLocks/>
          </p:cNvSpPr>
          <p:nvPr/>
        </p:nvSpPr>
        <p:spPr>
          <a:xfrm>
            <a:off x="133709" y="3429000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eaLnBrk="0" fontAlgn="base" hangingPunct="0">
              <a:lnSpc>
                <a:spcPct val="100000"/>
              </a:lnSpc>
              <a:spcAft>
                <a:spcPct val="0"/>
              </a:spcAft>
            </a:pPr>
            <a:r>
              <a:rPr lang="en-US" dirty="0">
                <a:solidFill>
                  <a:srgbClr val="C00000"/>
                </a:solidFill>
              </a:rPr>
              <a:t>Data Levels</a:t>
            </a:r>
            <a:endParaRPr lang="en-US" altLang="en-US" dirty="0">
              <a:solidFill>
                <a:srgbClr val="C00000"/>
              </a:solidFill>
              <a:latin typeface="Arial" panose="020B0604020202020204" pitchFamily="34" charset="0"/>
            </a:endParaRPr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C582C496-FCF3-3719-E7E0-D80A2E6283F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9638" y="679049"/>
            <a:ext cx="17702282" cy="3170099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457200" indent="-457200">
              <a:buFont typeface="Arial" panose="020B0604020202020204" pitchFamily="34" charset="0"/>
              <a:buChar char="•"/>
              <a:defRPr sz="3200"/>
            </a:lvl1pPr>
          </a:lstStyle>
          <a:p>
            <a:pPr>
              <a:buFont typeface="Wingdings" panose="05000000000000000000" pitchFamily="2" charset="2"/>
              <a:buChar char="ü"/>
            </a:pPr>
            <a:r>
              <a:rPr lang="en-US" altLang="en-US" sz="2800" dirty="0"/>
              <a:t>AOD (Aerosol Optical Depth): </a:t>
            </a:r>
          </a:p>
          <a:p>
            <a:pPr marL="0" indent="0">
              <a:buNone/>
            </a:pPr>
            <a:r>
              <a:rPr lang="en-US" altLang="en-US" sz="2800" dirty="0"/>
              <a:t>        How much sunlight is blocked by aerosols.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altLang="en-US" sz="2800" dirty="0"/>
              <a:t>Angstrom Exponent: </a:t>
            </a:r>
          </a:p>
          <a:p>
            <a:pPr marL="0" indent="0">
              <a:buNone/>
            </a:pPr>
            <a:r>
              <a:rPr lang="en-US" altLang="en-US" sz="2800" dirty="0"/>
              <a:t>        Spectral slope; tells if particles are large (dust) or small.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altLang="en-US" sz="2800" dirty="0"/>
              <a:t>Precipitable Water:</a:t>
            </a:r>
          </a:p>
          <a:p>
            <a:pPr marL="0" indent="0">
              <a:buNone/>
            </a:pPr>
            <a:r>
              <a:rPr lang="en-US" altLang="en-US" sz="2800" dirty="0"/>
              <a:t>       Total water vapor in a column of atmosphere.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altLang="en-US" sz="2800" dirty="0"/>
              <a:t>Measured at multiple wavelengths (340–1640 nm).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EC19385-D607-4B3B-2C49-D2B480B67968}"/>
              </a:ext>
            </a:extLst>
          </p:cNvPr>
          <p:cNvSpPr txBox="1"/>
          <p:nvPr/>
        </p:nvSpPr>
        <p:spPr>
          <a:xfrm>
            <a:off x="199638" y="4655457"/>
            <a:ext cx="10929257" cy="19697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2800" dirty="0"/>
              <a:t>Level 1.0 – Raw, unfiltered data</a:t>
            </a:r>
          </a:p>
          <a:p>
            <a:pPr marL="457200" indent="-4572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2800" dirty="0"/>
              <a:t>Level 1.5 – Cloud-screened</a:t>
            </a:r>
          </a:p>
          <a:p>
            <a:pPr marL="457200" indent="-4572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2800" b="1" dirty="0"/>
              <a:t>Level 2.0 </a:t>
            </a:r>
            <a:r>
              <a:rPr lang="en-US" sz="2800" dirty="0"/>
              <a:t>– Cloud-screened &amp; quality-assured (recommended for analysis)</a:t>
            </a:r>
          </a:p>
        </p:txBody>
      </p:sp>
    </p:spTree>
    <p:extLst>
      <p:ext uri="{BB962C8B-B14F-4D97-AF65-F5344CB8AC3E}">
        <p14:creationId xmlns:p14="http://schemas.microsoft.com/office/powerpoint/2010/main" val="414070162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5B81B3-A854-181E-3673-625D7A6E30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5943" y="-160500"/>
            <a:ext cx="10515600" cy="1325563"/>
          </a:xfrm>
        </p:spPr>
        <p:txBody>
          <a:bodyPr/>
          <a:lstStyle/>
          <a:p>
            <a:r>
              <a:rPr lang="en-US" dirty="0"/>
              <a:t>Accessing the Data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2C51D922-F01B-597E-2DDC-027591C7BCB4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-4985" y="502281"/>
            <a:ext cx="10445488" cy="91409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Go to:</a:t>
            </a:r>
            <a:b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hlinkClick r:id="rId2"/>
              </a:rPr>
              <a:t>https://aeronet.gsfc.nasa.gov/cgi-bin/draw_map_display_aod_v3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  <a:tabLst/>
            </a:pPr>
            <a:endParaRPr lang="en-US" altLang="en-US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  <a:tabLst/>
            </a:pPr>
            <a:endParaRPr lang="en-US" altLang="en-US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  <a:tabLst/>
            </a:pPr>
            <a:endParaRPr lang="en-US" altLang="en-US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  <a:tabLst/>
            </a:pPr>
            <a:endParaRPr lang="en-US" altLang="en-US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  <a:tabLst/>
            </a:pPr>
            <a:endParaRPr lang="en-US" altLang="en-US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  <a:tabLst/>
            </a:pPr>
            <a:endParaRPr lang="en-US" altLang="en-US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  <a:tabLst/>
            </a:pPr>
            <a:endParaRPr lang="en-US" altLang="en-US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  <a:tabLst/>
            </a:pPr>
            <a:endParaRPr lang="en-US" altLang="en-US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  <a:tabLst/>
            </a:pPr>
            <a:endParaRPr lang="en-US" altLang="en-US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  <a:tabLst/>
            </a:pPr>
            <a:endParaRPr lang="en-US" altLang="en-US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9820FEB-C5FB-BEAB-9E83-DED32A43BFB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4755" y="2016478"/>
            <a:ext cx="4620012" cy="4012221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E141C20D-9699-8275-C8C5-CBD9ED48E7F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23807" y="5343690"/>
            <a:ext cx="6437219" cy="1351987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133798DC-6182-E73F-54E7-9EDEA10D92F7}"/>
              </a:ext>
            </a:extLst>
          </p:cNvPr>
          <p:cNvSpPr txBox="1"/>
          <p:nvPr/>
        </p:nvSpPr>
        <p:spPr>
          <a:xfrm>
            <a:off x="5258319" y="4375086"/>
            <a:ext cx="6768193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/>
              <a:t>2. Navigate to where you have Tucson and click on it</a:t>
            </a:r>
          </a:p>
        </p:txBody>
      </p:sp>
    </p:spTree>
    <p:extLst>
      <p:ext uri="{BB962C8B-B14F-4D97-AF65-F5344CB8AC3E}">
        <p14:creationId xmlns:p14="http://schemas.microsoft.com/office/powerpoint/2010/main" val="232165223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Picture 20">
            <a:extLst>
              <a:ext uri="{FF2B5EF4-FFF2-40B4-BE49-F238E27FC236}">
                <a16:creationId xmlns:a16="http://schemas.microsoft.com/office/drawing/2014/main" id="{9C41DB17-97B4-DF3C-9D3E-59639FD90D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2785" y="643201"/>
            <a:ext cx="10885998" cy="6053581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61C3F5F-1740-E40F-324D-FC8F088210A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456806"/>
            <a:ext cx="2743200" cy="365125"/>
          </a:xfrm>
        </p:spPr>
        <p:txBody>
          <a:bodyPr/>
          <a:lstStyle/>
          <a:p>
            <a:fld id="{F5592931-05C6-8543-8B6E-A8BD29BD5C2B}" type="datetime1">
              <a:rPr lang="en-US" smtClean="0"/>
              <a:pPr/>
              <a:t>8/7/2025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9480DAF-2466-90C8-1E08-87D265B918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B5DEDE-1372-0D32-A006-AE4735F558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5</a:t>
            </a:fld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CA325F2-C15A-2A84-2C22-D61E9AB30BCF}"/>
              </a:ext>
            </a:extLst>
          </p:cNvPr>
          <p:cNvSpPr txBox="1"/>
          <p:nvPr/>
        </p:nvSpPr>
        <p:spPr>
          <a:xfrm>
            <a:off x="121846" y="23042"/>
            <a:ext cx="1079906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3200" dirty="0">
                <a:latin typeface="+mj-lt"/>
                <a:cs typeface="Times New Roman" panose="02020603050405020304" pitchFamily="18" charset="0"/>
              </a:rPr>
              <a:t>Click on the </a:t>
            </a:r>
            <a:r>
              <a:rPr lang="en-US" sz="3200" b="1" dirty="0">
                <a:latin typeface="+mj-lt"/>
                <a:cs typeface="Times New Roman" panose="02020603050405020304" pitchFamily="18" charset="0"/>
              </a:rPr>
              <a:t>factor</a:t>
            </a:r>
            <a:r>
              <a:rPr lang="en-US" sz="3200" dirty="0">
                <a:latin typeface="+mj-lt"/>
                <a:cs typeface="Times New Roman" panose="02020603050405020304" pitchFamily="18" charset="0"/>
              </a:rPr>
              <a:t>,  </a:t>
            </a:r>
            <a:r>
              <a:rPr lang="en-US" sz="3200" b="1" dirty="0">
                <a:latin typeface="+mj-lt"/>
                <a:cs typeface="Times New Roman" panose="02020603050405020304" pitchFamily="18" charset="0"/>
              </a:rPr>
              <a:t>year,</a:t>
            </a:r>
            <a:r>
              <a:rPr lang="en-US" sz="3200" dirty="0">
                <a:latin typeface="+mj-lt"/>
                <a:cs typeface="Times New Roman" panose="02020603050405020304" pitchFamily="18" charset="0"/>
              </a:rPr>
              <a:t> and </a:t>
            </a:r>
            <a:r>
              <a:rPr lang="en-US" sz="3200" b="1" dirty="0">
                <a:cs typeface="Times New Roman" panose="02020603050405020304" pitchFamily="18" charset="0"/>
              </a:rPr>
              <a:t>level 2.0 </a:t>
            </a:r>
            <a:r>
              <a:rPr lang="en-US" sz="3200" dirty="0">
                <a:latin typeface="+mj-lt"/>
                <a:cs typeface="Times New Roman" panose="02020603050405020304" pitchFamily="18" charset="0"/>
              </a:rPr>
              <a:t>. 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EE16944A-6C1B-6E70-B746-CA61767B7A7F}"/>
              </a:ext>
            </a:extLst>
          </p:cNvPr>
          <p:cNvSpPr/>
          <p:nvPr/>
        </p:nvSpPr>
        <p:spPr>
          <a:xfrm>
            <a:off x="5009314" y="1130297"/>
            <a:ext cx="1024128" cy="171982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23138629-1DAC-1F44-98E0-E60D90A731E4}"/>
              </a:ext>
            </a:extLst>
          </p:cNvPr>
          <p:cNvSpPr/>
          <p:nvPr/>
        </p:nvSpPr>
        <p:spPr>
          <a:xfrm>
            <a:off x="2169381" y="6451156"/>
            <a:ext cx="1252728" cy="171982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3CA422E-1A55-3300-623B-ADF3D04E5770}"/>
              </a:ext>
            </a:extLst>
          </p:cNvPr>
          <p:cNvSpPr/>
          <p:nvPr/>
        </p:nvSpPr>
        <p:spPr>
          <a:xfrm flipH="1">
            <a:off x="1925242" y="560869"/>
            <a:ext cx="446666" cy="52322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2800" b="0" cap="none" spc="0" dirty="0">
                <a:ln w="0"/>
                <a:solidFill>
                  <a:schemeClr val="accent3">
                    <a:lumMod val="60000"/>
                    <a:lumOff val="4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1</a:t>
            </a: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C589AEA4-7030-8EA0-B629-2612B7465FB3}"/>
              </a:ext>
            </a:extLst>
          </p:cNvPr>
          <p:cNvSpPr/>
          <p:nvPr/>
        </p:nvSpPr>
        <p:spPr>
          <a:xfrm>
            <a:off x="2148575" y="856981"/>
            <a:ext cx="1024128" cy="218808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B74899D2-1610-ACFF-39A6-FA7C7AE88EB4}"/>
              </a:ext>
            </a:extLst>
          </p:cNvPr>
          <p:cNvSpPr/>
          <p:nvPr/>
        </p:nvSpPr>
        <p:spPr>
          <a:xfrm>
            <a:off x="5848751" y="950465"/>
            <a:ext cx="813816" cy="237527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0000"/>
              </a:solidFill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E36CD86D-703D-4C1B-0F5D-65F596E01FBF}"/>
              </a:ext>
            </a:extLst>
          </p:cNvPr>
          <p:cNvSpPr/>
          <p:nvPr/>
        </p:nvSpPr>
        <p:spPr>
          <a:xfrm flipH="1">
            <a:off x="5199460" y="1313967"/>
            <a:ext cx="446665" cy="52322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2800" b="0" cap="none" spc="0" dirty="0">
                <a:ln w="0"/>
                <a:solidFill>
                  <a:schemeClr val="accent6">
                    <a:lumMod val="60000"/>
                    <a:lumOff val="4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3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9F1BD00C-5B1A-EA2E-CE4F-CBEE30EB0407}"/>
              </a:ext>
            </a:extLst>
          </p:cNvPr>
          <p:cNvSpPr/>
          <p:nvPr/>
        </p:nvSpPr>
        <p:spPr>
          <a:xfrm>
            <a:off x="5669083" y="631513"/>
            <a:ext cx="377027" cy="52322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800" b="0" cap="none" spc="0" dirty="0">
                <a:ln w="0"/>
                <a:solidFill>
                  <a:schemeClr val="accent3">
                    <a:lumMod val="60000"/>
                    <a:lumOff val="4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2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4A3654F7-45F8-A0B7-077B-DA652FCE10E9}"/>
              </a:ext>
            </a:extLst>
          </p:cNvPr>
          <p:cNvSpPr/>
          <p:nvPr/>
        </p:nvSpPr>
        <p:spPr>
          <a:xfrm>
            <a:off x="5486466" y="4997919"/>
            <a:ext cx="319318" cy="40011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0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3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915B6FB1-9909-D9FC-1A1B-70855654A4C1}"/>
              </a:ext>
            </a:extLst>
          </p:cNvPr>
          <p:cNvSpPr/>
          <p:nvPr/>
        </p:nvSpPr>
        <p:spPr>
          <a:xfrm>
            <a:off x="2968804" y="6100767"/>
            <a:ext cx="349776" cy="46166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400" b="0" cap="none" spc="0" dirty="0">
                <a:ln w="0"/>
                <a:solidFill>
                  <a:schemeClr val="accent6">
                    <a:lumMod val="60000"/>
                    <a:lumOff val="4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4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D131E3D4-57E1-3CF7-AF17-AB97FECE40B8}"/>
              </a:ext>
            </a:extLst>
          </p:cNvPr>
          <p:cNvSpPr txBox="1"/>
          <p:nvPr/>
        </p:nvSpPr>
        <p:spPr>
          <a:xfrm>
            <a:off x="6662567" y="5280000"/>
            <a:ext cx="48964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356616">
              <a:spcAft>
                <a:spcPts val="600"/>
              </a:spcAft>
            </a:pPr>
            <a:r>
              <a:rPr lang="en-US" b="1" kern="1200" dirty="0">
                <a:solidFill>
                  <a:srgbClr val="C00000"/>
                </a:solidFill>
                <a:cs typeface="Times New Roman" panose="02020603050405020304" pitchFamily="18" charset="0"/>
              </a:rPr>
              <a:t>Clicking on this download the data in a zip file</a:t>
            </a:r>
            <a:endParaRPr lang="en-US" b="1" dirty="0">
              <a:solidFill>
                <a:srgbClr val="C00000"/>
              </a:solidFill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27" name="Ink 26">
                <a:extLst>
                  <a:ext uri="{FF2B5EF4-FFF2-40B4-BE49-F238E27FC236}">
                    <a16:creationId xmlns:a16="http://schemas.microsoft.com/office/drawing/2014/main" id="{D0C0C0E1-D651-ECDD-8DAE-9F5775190EEC}"/>
                  </a:ext>
                </a:extLst>
              </p14:cNvPr>
              <p14:cNvContentPartPr/>
              <p14:nvPr/>
            </p14:nvContentPartPr>
            <p14:xfrm>
              <a:off x="3259894" y="5597264"/>
              <a:ext cx="3498840" cy="835560"/>
            </p14:xfrm>
          </p:contentPart>
        </mc:Choice>
        <mc:Fallback>
          <p:pic>
            <p:nvPicPr>
              <p:cNvPr id="27" name="Ink 26">
                <a:extLst>
                  <a:ext uri="{FF2B5EF4-FFF2-40B4-BE49-F238E27FC236}">
                    <a16:creationId xmlns:a16="http://schemas.microsoft.com/office/drawing/2014/main" id="{D0C0C0E1-D651-ECDD-8DAE-9F5775190EEC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253774" y="5591144"/>
                <a:ext cx="3511080" cy="847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41" name="Ink 40">
                <a:extLst>
                  <a:ext uri="{FF2B5EF4-FFF2-40B4-BE49-F238E27FC236}">
                    <a16:creationId xmlns:a16="http://schemas.microsoft.com/office/drawing/2014/main" id="{EB166249-41D7-EDF8-4D0B-7794B123D961}"/>
                  </a:ext>
                </a:extLst>
              </p14:cNvPr>
              <p14:cNvContentPartPr/>
              <p14:nvPr/>
            </p14:nvContentPartPr>
            <p14:xfrm>
              <a:off x="3248709" y="6252807"/>
              <a:ext cx="135360" cy="179280"/>
            </p14:xfrm>
          </p:contentPart>
        </mc:Choice>
        <mc:Fallback>
          <p:pic>
            <p:nvPicPr>
              <p:cNvPr id="41" name="Ink 40">
                <a:extLst>
                  <a:ext uri="{FF2B5EF4-FFF2-40B4-BE49-F238E27FC236}">
                    <a16:creationId xmlns:a16="http://schemas.microsoft.com/office/drawing/2014/main" id="{EB166249-41D7-EDF8-4D0B-7794B123D961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3242589" y="6246687"/>
                <a:ext cx="147600" cy="191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">
            <p14:nvContentPartPr>
              <p14:cNvPr id="45" name="Ink 44">
                <a:extLst>
                  <a:ext uri="{FF2B5EF4-FFF2-40B4-BE49-F238E27FC236}">
                    <a16:creationId xmlns:a16="http://schemas.microsoft.com/office/drawing/2014/main" id="{69F6A164-66B9-DA7E-00EB-24A890A5ED24}"/>
                  </a:ext>
                </a:extLst>
              </p14:cNvPr>
              <p14:cNvContentPartPr/>
              <p14:nvPr/>
            </p14:nvContentPartPr>
            <p14:xfrm>
              <a:off x="3251949" y="6441447"/>
              <a:ext cx="204480" cy="50760"/>
            </p14:xfrm>
          </p:contentPart>
        </mc:Choice>
        <mc:Fallback>
          <p:pic>
            <p:nvPicPr>
              <p:cNvPr id="45" name="Ink 44">
                <a:extLst>
                  <a:ext uri="{FF2B5EF4-FFF2-40B4-BE49-F238E27FC236}">
                    <a16:creationId xmlns:a16="http://schemas.microsoft.com/office/drawing/2014/main" id="{69F6A164-66B9-DA7E-00EB-24A890A5ED24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3245829" y="6434967"/>
                <a:ext cx="216720" cy="63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95038505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230581EF-92F4-5DD0-6271-812ACA7247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6101" y="828283"/>
            <a:ext cx="10058400" cy="5447634"/>
          </a:xfrm>
          <a:prstGeom prst="rect">
            <a:avLst/>
          </a:prstGeom>
          <a:ln w="3175">
            <a:solidFill>
              <a:schemeClr val="tx1"/>
            </a:solidFill>
          </a:ln>
        </p:spPr>
      </p:pic>
      <p:sp>
        <p:nvSpPr>
          <p:cNvPr id="6" name="Oval 5">
            <a:extLst>
              <a:ext uri="{FF2B5EF4-FFF2-40B4-BE49-F238E27FC236}">
                <a16:creationId xmlns:a16="http://schemas.microsoft.com/office/drawing/2014/main" id="{2D5DE52F-5B44-2551-9F38-1F59F38663A3}"/>
              </a:ext>
            </a:extLst>
          </p:cNvPr>
          <p:cNvSpPr/>
          <p:nvPr/>
        </p:nvSpPr>
        <p:spPr>
          <a:xfrm>
            <a:off x="674846" y="5714472"/>
            <a:ext cx="1045306" cy="312208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738977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60295B-54B9-4937-90E3-BAB9CE69E30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712918" y="121670"/>
            <a:ext cx="10984882" cy="548640"/>
          </a:xfrm>
        </p:spPr>
        <p:txBody>
          <a:bodyPr>
            <a:normAutofit fontScale="90000"/>
          </a:bodyPr>
          <a:lstStyle/>
          <a:p>
            <a:pPr algn="ctr"/>
            <a:r>
              <a:rPr lang="en-US" sz="4800" dirty="0">
                <a:solidFill>
                  <a:schemeClr val="tx1"/>
                </a:solidFill>
              </a:rPr>
              <a:t>Data Extraction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512BD09-037C-0383-13A7-C392DDFB8FF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136" r="50384" b="1"/>
          <a:stretch>
            <a:fillRect/>
          </a:stretch>
        </p:blipFill>
        <p:spPr>
          <a:xfrm>
            <a:off x="5112072" y="523960"/>
            <a:ext cx="2894558" cy="812593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7FC877BB-A12A-96BE-9779-330C8162A4A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12918" y="2397665"/>
            <a:ext cx="7513857" cy="4460335"/>
          </a:xfrm>
          <a:prstGeom prst="rect">
            <a:avLst/>
          </a:prstGeom>
        </p:spPr>
      </p:pic>
      <p:sp>
        <p:nvSpPr>
          <p:cNvPr id="22" name="Oval 21">
            <a:extLst>
              <a:ext uri="{FF2B5EF4-FFF2-40B4-BE49-F238E27FC236}">
                <a16:creationId xmlns:a16="http://schemas.microsoft.com/office/drawing/2014/main" id="{0D85833D-4B3C-26FD-4612-9F0AE295596F}"/>
              </a:ext>
            </a:extLst>
          </p:cNvPr>
          <p:cNvSpPr/>
          <p:nvPr/>
        </p:nvSpPr>
        <p:spPr>
          <a:xfrm>
            <a:off x="5644951" y="4627832"/>
            <a:ext cx="1045306" cy="312208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A932E1FB-96D4-4C23-2C88-BE21B04FCC27}"/>
              </a:ext>
            </a:extLst>
          </p:cNvPr>
          <p:cNvSpPr/>
          <p:nvPr/>
        </p:nvSpPr>
        <p:spPr>
          <a:xfrm>
            <a:off x="10700582" y="6307420"/>
            <a:ext cx="1045306" cy="312208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D9040ADA-2D6F-7E42-894C-087C3B07259E}"/>
              </a:ext>
            </a:extLst>
          </p:cNvPr>
          <p:cNvSpPr txBox="1"/>
          <p:nvPr/>
        </p:nvSpPr>
        <p:spPr>
          <a:xfrm>
            <a:off x="99828" y="269530"/>
            <a:ext cx="6067776" cy="22196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marR="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600" kern="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Download the AERONET .zip file from the website.</a:t>
            </a:r>
            <a:endParaRPr lang="en-US" sz="1600" kern="100" dirty="0">
              <a:effectLst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600" kern="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Extract the file using WinRAR or Windows Explorer.</a:t>
            </a:r>
            <a:br>
              <a:rPr lang="en-US" sz="1600" kern="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600" kern="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→ You will get a .lev20 file (text-based).</a:t>
            </a:r>
            <a:endParaRPr lang="en-US" sz="1600" kern="100" dirty="0">
              <a:effectLst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600" b="1" kern="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In Excel, </a:t>
            </a:r>
            <a:r>
              <a:rPr lang="en-US" sz="1600" kern="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go to File &gt; </a:t>
            </a:r>
            <a:r>
              <a:rPr lang="en-US" sz="1600" kern="0" dirty="0">
                <a:solidFill>
                  <a:srgbClr val="FF0000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Open </a:t>
            </a:r>
            <a:r>
              <a:rPr lang="en-US" sz="1600" kern="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and navigate to the folder.</a:t>
            </a:r>
            <a:br>
              <a:rPr lang="en-US" sz="1600" kern="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600" kern="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→ Be sure to select “</a:t>
            </a:r>
            <a:r>
              <a:rPr lang="en-US" sz="1600" kern="0" dirty="0">
                <a:solidFill>
                  <a:srgbClr val="FF0000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All Files</a:t>
            </a:r>
            <a:r>
              <a:rPr lang="en-US" sz="1600" kern="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” to see .lev20 files.</a:t>
            </a:r>
            <a:endParaRPr lang="en-US" sz="1600" kern="100" dirty="0">
              <a:effectLst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R="0" lvl="0">
              <a:lnSpc>
                <a:spcPct val="115000"/>
              </a:lnSpc>
              <a:spcAft>
                <a:spcPts val="800"/>
              </a:spcAft>
              <a:buSzPts val="1000"/>
              <a:tabLst>
                <a:tab pos="457200" algn="l"/>
              </a:tabLst>
            </a:pP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44679733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Graphical user interface, text, application, email&#10;&#10;Description automatically generated">
            <a:extLst>
              <a:ext uri="{FF2B5EF4-FFF2-40B4-BE49-F238E27FC236}">
                <a16:creationId xmlns:a16="http://schemas.microsoft.com/office/drawing/2014/main" id="{73C7FA04-AE5F-4587-FF4A-1DDC9AD248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4478694" cy="4456926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9" name="Picture 8" descr="Graphical user interface, application&#10;&#10;Description automatically generated">
            <a:extLst>
              <a:ext uri="{FF2B5EF4-FFF2-40B4-BE49-F238E27FC236}">
                <a16:creationId xmlns:a16="http://schemas.microsoft.com/office/drawing/2014/main" id="{2BF916C9-9323-BC37-48DC-47C9AFC3EC6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78694" y="0"/>
            <a:ext cx="4076121" cy="4456926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11" name="Picture 10" descr="Graphical user interface, text, application, email&#10;&#10;Description automatically generated">
            <a:extLst>
              <a:ext uri="{FF2B5EF4-FFF2-40B4-BE49-F238E27FC236}">
                <a16:creationId xmlns:a16="http://schemas.microsoft.com/office/drawing/2014/main" id="{BDA5CA91-1E73-176E-F0AF-C3E7F1AA353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54815" y="0"/>
            <a:ext cx="3704780" cy="4456926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12" name="Oval 11">
            <a:extLst>
              <a:ext uri="{FF2B5EF4-FFF2-40B4-BE49-F238E27FC236}">
                <a16:creationId xmlns:a16="http://schemas.microsoft.com/office/drawing/2014/main" id="{8CF8F7C6-63CB-CA16-B770-96B43D85BF97}"/>
              </a:ext>
            </a:extLst>
          </p:cNvPr>
          <p:cNvSpPr/>
          <p:nvPr/>
        </p:nvSpPr>
        <p:spPr>
          <a:xfrm>
            <a:off x="233265" y="1129003"/>
            <a:ext cx="718457" cy="223935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D7EAA989-438D-08DC-44FC-756B8D23CEA2}"/>
              </a:ext>
            </a:extLst>
          </p:cNvPr>
          <p:cNvSpPr/>
          <p:nvPr/>
        </p:nvSpPr>
        <p:spPr>
          <a:xfrm>
            <a:off x="0" y="2228463"/>
            <a:ext cx="1241571" cy="334544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CC6EFA68-2A0E-BC23-6B8C-842D765E84BF}"/>
              </a:ext>
            </a:extLst>
          </p:cNvPr>
          <p:cNvSpPr/>
          <p:nvPr/>
        </p:nvSpPr>
        <p:spPr>
          <a:xfrm>
            <a:off x="4478694" y="1307226"/>
            <a:ext cx="722480" cy="223935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4C6715EB-109D-CB97-73D9-B5DAF4D89D88}"/>
              </a:ext>
            </a:extLst>
          </p:cNvPr>
          <p:cNvSpPr/>
          <p:nvPr/>
        </p:nvSpPr>
        <p:spPr>
          <a:xfrm>
            <a:off x="4538444" y="1464049"/>
            <a:ext cx="629174" cy="234892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44A23BFA-F0F6-AE68-85B6-693D6F85FB8E}"/>
              </a:ext>
            </a:extLst>
          </p:cNvPr>
          <p:cNvSpPr/>
          <p:nvPr/>
        </p:nvSpPr>
        <p:spPr>
          <a:xfrm>
            <a:off x="4538444" y="927154"/>
            <a:ext cx="489399" cy="201849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C64E887E-004C-74CD-2299-0B6182B4B031}"/>
              </a:ext>
            </a:extLst>
          </p:cNvPr>
          <p:cNvSpPr/>
          <p:nvPr/>
        </p:nvSpPr>
        <p:spPr>
          <a:xfrm>
            <a:off x="3102900" y="3938801"/>
            <a:ext cx="705702" cy="518125"/>
          </a:xfrm>
          <a:prstGeom prst="ellipse">
            <a:avLst/>
          </a:prstGeom>
          <a:noFill/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5DB405EC-B080-7663-720A-C685CD8C6D5B}"/>
              </a:ext>
            </a:extLst>
          </p:cNvPr>
          <p:cNvSpPr/>
          <p:nvPr/>
        </p:nvSpPr>
        <p:spPr>
          <a:xfrm>
            <a:off x="7256477" y="3955579"/>
            <a:ext cx="687897" cy="501347"/>
          </a:xfrm>
          <a:prstGeom prst="ellipse">
            <a:avLst/>
          </a:prstGeom>
          <a:noFill/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BAEB2748-A2C0-FEC8-F99D-CC53BECC11C6}"/>
              </a:ext>
            </a:extLst>
          </p:cNvPr>
          <p:cNvSpPr/>
          <p:nvPr/>
        </p:nvSpPr>
        <p:spPr>
          <a:xfrm>
            <a:off x="8614466" y="750985"/>
            <a:ext cx="550790" cy="25167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45089AAC-7F23-4A2A-548B-36B90A1C11C8}"/>
              </a:ext>
            </a:extLst>
          </p:cNvPr>
          <p:cNvSpPr/>
          <p:nvPr/>
        </p:nvSpPr>
        <p:spPr>
          <a:xfrm>
            <a:off x="11652308" y="4014302"/>
            <a:ext cx="607287" cy="377505"/>
          </a:xfrm>
          <a:prstGeom prst="ellipse">
            <a:avLst/>
          </a:prstGeom>
          <a:noFill/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D1CFB4E0-D25C-040D-299D-4AADDD4FB1EA}"/>
              </a:ext>
            </a:extLst>
          </p:cNvPr>
          <p:cNvSpPr/>
          <p:nvPr/>
        </p:nvSpPr>
        <p:spPr>
          <a:xfrm>
            <a:off x="19905" y="594639"/>
            <a:ext cx="426719" cy="64633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36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1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D65C6924-7179-A0A0-3B23-298B28B985E8}"/>
              </a:ext>
            </a:extLst>
          </p:cNvPr>
          <p:cNvSpPr/>
          <p:nvPr/>
        </p:nvSpPr>
        <p:spPr>
          <a:xfrm>
            <a:off x="962732" y="1830797"/>
            <a:ext cx="426719" cy="64633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36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2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F33E87CE-1392-21B1-1321-D43C94B97E22}"/>
              </a:ext>
            </a:extLst>
          </p:cNvPr>
          <p:cNvSpPr/>
          <p:nvPr/>
        </p:nvSpPr>
        <p:spPr>
          <a:xfrm>
            <a:off x="3029032" y="3551532"/>
            <a:ext cx="426719" cy="64633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36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3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AFE45AF8-4EB5-E5B7-37E7-1D6BCD8C1AA0}"/>
              </a:ext>
            </a:extLst>
          </p:cNvPr>
          <p:cNvSpPr/>
          <p:nvPr/>
        </p:nvSpPr>
        <p:spPr>
          <a:xfrm>
            <a:off x="4532795" y="425766"/>
            <a:ext cx="392524" cy="64633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36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4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8A666321-34A6-CCE8-1B57-644D37999312}"/>
              </a:ext>
            </a:extLst>
          </p:cNvPr>
          <p:cNvSpPr/>
          <p:nvPr/>
        </p:nvSpPr>
        <p:spPr>
          <a:xfrm>
            <a:off x="5109041" y="1002656"/>
            <a:ext cx="351435" cy="64633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36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5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C35CB2D5-BD5F-50E4-411C-791FFD977D94}"/>
              </a:ext>
            </a:extLst>
          </p:cNvPr>
          <p:cNvSpPr/>
          <p:nvPr/>
        </p:nvSpPr>
        <p:spPr>
          <a:xfrm>
            <a:off x="4439088" y="1443124"/>
            <a:ext cx="426719" cy="64633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36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6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1D985863-9CD9-E83D-5A5D-CD66EA6BBCA4}"/>
              </a:ext>
            </a:extLst>
          </p:cNvPr>
          <p:cNvSpPr/>
          <p:nvPr/>
        </p:nvSpPr>
        <p:spPr>
          <a:xfrm>
            <a:off x="7011379" y="3559921"/>
            <a:ext cx="426719" cy="64633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36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7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2D71A78C-1506-137A-6CDE-F17F2C3C6CD9}"/>
              </a:ext>
            </a:extLst>
          </p:cNvPr>
          <p:cNvSpPr/>
          <p:nvPr/>
        </p:nvSpPr>
        <p:spPr>
          <a:xfrm>
            <a:off x="9109878" y="553654"/>
            <a:ext cx="426719" cy="64633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36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8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1742B855-C7AB-41F0-BF70-38F18686F076}"/>
              </a:ext>
            </a:extLst>
          </p:cNvPr>
          <p:cNvSpPr/>
          <p:nvPr/>
        </p:nvSpPr>
        <p:spPr>
          <a:xfrm>
            <a:off x="11573870" y="3519989"/>
            <a:ext cx="426719" cy="64633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36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9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4D36584-4A8D-37DA-069A-80A180239D79}"/>
              </a:ext>
            </a:extLst>
          </p:cNvPr>
          <p:cNvSpPr txBox="1"/>
          <p:nvPr/>
        </p:nvSpPr>
        <p:spPr>
          <a:xfrm>
            <a:off x="52462" y="4585132"/>
            <a:ext cx="9353190" cy="15188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>
              <a:lnSpc>
                <a:spcPct val="115000"/>
              </a:lnSpc>
              <a:spcAft>
                <a:spcPts val="800"/>
              </a:spcAft>
              <a:buSzPts val="1000"/>
              <a:tabLst>
                <a:tab pos="457200" algn="l"/>
              </a:tabLst>
            </a:pPr>
            <a:r>
              <a:rPr lang="en-US" sz="1600" kern="0" dirty="0">
                <a:solidFill>
                  <a:srgbClr val="C00000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Step 1:</a:t>
            </a:r>
            <a:r>
              <a:rPr lang="en-US" sz="1600" kern="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 In the Text Import Wizard, choose:</a:t>
            </a:r>
            <a:endParaRPr lang="en-US" sz="1600" kern="100" dirty="0">
              <a:effectLst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742950" marR="0" lvl="1" indent="-285750">
              <a:lnSpc>
                <a:spcPct val="115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sz="1600" kern="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"Delimited" as file type</a:t>
            </a:r>
            <a:endParaRPr lang="en-US" sz="1600" kern="100" dirty="0">
              <a:effectLst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742950" marR="0" lvl="1" indent="-285750">
              <a:lnSpc>
                <a:spcPct val="115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sz="1600" kern="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Check "My data has headers"</a:t>
            </a:r>
            <a:endParaRPr lang="en-US" sz="1600" kern="100" dirty="0">
              <a:effectLst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742950" marR="0" lvl="1" indent="-285750">
              <a:lnSpc>
                <a:spcPct val="115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sz="1600" kern="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Click Next</a:t>
            </a:r>
            <a:endParaRPr lang="en-US" sz="1600" kern="100" dirty="0">
              <a:effectLst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2DC84C4-C066-BFC0-7FA9-4283A610220D}"/>
              </a:ext>
            </a:extLst>
          </p:cNvPr>
          <p:cNvSpPr txBox="1"/>
          <p:nvPr/>
        </p:nvSpPr>
        <p:spPr>
          <a:xfrm>
            <a:off x="4729057" y="4613749"/>
            <a:ext cx="9353190" cy="11330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>
              <a:lnSpc>
                <a:spcPct val="115000"/>
              </a:lnSpc>
              <a:spcAft>
                <a:spcPts val="800"/>
              </a:spcAft>
              <a:buSzPts val="1000"/>
              <a:tabLst>
                <a:tab pos="457200" algn="l"/>
              </a:tabLst>
            </a:pPr>
            <a:r>
              <a:rPr lang="en-US" sz="1600" kern="0" dirty="0">
                <a:solidFill>
                  <a:srgbClr val="C00000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Step 2:</a:t>
            </a:r>
            <a:r>
              <a:rPr lang="en-US" sz="1600" kern="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 Select Comma as the delimiter</a:t>
            </a:r>
            <a:endParaRPr lang="en-US" sz="1600" kern="100" dirty="0">
              <a:effectLst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742950" marR="0" lvl="1" indent="-285750">
              <a:lnSpc>
                <a:spcPct val="115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sz="1600" kern="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Uncheck "Tab" and "Space"</a:t>
            </a:r>
            <a:endParaRPr lang="en-US" sz="1600" kern="100" dirty="0">
              <a:effectLst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742950" marR="0" lvl="1" indent="-285750">
              <a:lnSpc>
                <a:spcPct val="115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sz="1600" kern="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Click Next</a:t>
            </a:r>
            <a:endParaRPr lang="en-US" sz="1600" kern="100" dirty="0">
              <a:effectLst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F07B2C3-D200-70E2-539D-A5F0F9434BCA}"/>
              </a:ext>
            </a:extLst>
          </p:cNvPr>
          <p:cNvSpPr txBox="1"/>
          <p:nvPr/>
        </p:nvSpPr>
        <p:spPr>
          <a:xfrm>
            <a:off x="8554815" y="4642366"/>
            <a:ext cx="9353190" cy="11330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>
              <a:lnSpc>
                <a:spcPct val="115000"/>
              </a:lnSpc>
              <a:spcAft>
                <a:spcPts val="800"/>
              </a:spcAft>
              <a:buSzPts val="1000"/>
              <a:tabLst>
                <a:tab pos="457200" algn="l"/>
              </a:tabLst>
            </a:pPr>
            <a:r>
              <a:rPr lang="en-US" sz="1600" kern="0" dirty="0">
                <a:solidFill>
                  <a:srgbClr val="C00000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Step 3 : </a:t>
            </a:r>
            <a:r>
              <a:rPr lang="en-US" sz="1600" kern="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Keep format as General</a:t>
            </a:r>
            <a:endParaRPr lang="en-US" sz="1600" kern="100" dirty="0">
              <a:effectLst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742950" marR="0" lvl="1" indent="-285750">
              <a:lnSpc>
                <a:spcPct val="115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sz="1600" kern="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Click Finish</a:t>
            </a:r>
            <a:endParaRPr lang="en-US" sz="1600" kern="100" dirty="0">
              <a:effectLst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600" kern="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The data is now open in Excel!</a:t>
            </a:r>
            <a:endParaRPr lang="en-US" sz="1600" kern="100" dirty="0">
              <a:effectLst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3380670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B042D9-EF6D-C62C-C25D-B321643A3E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3902" y="0"/>
            <a:ext cx="12094234" cy="4351338"/>
          </a:xfrm>
        </p:spPr>
        <p:txBody>
          <a:bodyPr/>
          <a:lstStyle/>
          <a:p>
            <a:r>
              <a:rPr lang="en-US" kern="0" dirty="0">
                <a:ea typeface="Times New Roman" panose="02020603050405020304" pitchFamily="18" charset="0"/>
                <a:cs typeface="Times New Roman" panose="02020603050405020304" pitchFamily="18" charset="0"/>
              </a:rPr>
              <a:t>Text header (instrument/site metadata)</a:t>
            </a:r>
          </a:p>
          <a:p>
            <a:r>
              <a:rPr lang="en-US" kern="0" dirty="0">
                <a:ea typeface="Times New Roman" panose="02020603050405020304" pitchFamily="18" charset="0"/>
                <a:cs typeface="Times New Roman" panose="02020603050405020304" pitchFamily="18" charset="0"/>
              </a:rPr>
              <a:t>CSV table </a:t>
            </a:r>
            <a:r>
              <a:rPr lang="en-US" kern="0" dirty="0" err="1">
                <a:ea typeface="Times New Roman" panose="02020603050405020304" pitchFamily="18" charset="0"/>
                <a:cs typeface="Times New Roman" panose="02020603050405020304" pitchFamily="18" charset="0"/>
              </a:rPr>
              <a:t>with:Date</a:t>
            </a:r>
            <a:r>
              <a:rPr lang="en-US" kern="0" dirty="0">
                <a:ea typeface="Times New Roman" panose="02020603050405020304" pitchFamily="18" charset="0"/>
                <a:cs typeface="Times New Roman" panose="02020603050405020304" pitchFamily="18" charset="0"/>
              </a:rPr>
              <a:t>, Time, AOD_500nm, </a:t>
            </a:r>
            <a:r>
              <a:rPr lang="en-US" kern="0" dirty="0" err="1">
                <a:ea typeface="Times New Roman" panose="02020603050405020304" pitchFamily="18" charset="0"/>
                <a:cs typeface="Times New Roman" panose="02020603050405020304" pitchFamily="18" charset="0"/>
              </a:rPr>
              <a:t>Angstrom_Exponent</a:t>
            </a:r>
            <a:r>
              <a:rPr lang="en-US" kern="0" dirty="0"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kern="0" dirty="0" err="1">
                <a:ea typeface="Times New Roman" panose="02020603050405020304" pitchFamily="18" charset="0"/>
                <a:cs typeface="Times New Roman" panose="02020603050405020304" pitchFamily="18" charset="0"/>
              </a:rPr>
              <a:t>Precipitable_Water</a:t>
            </a:r>
            <a:endParaRPr lang="en-US" kern="0" dirty="0"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kern="0" dirty="0">
                <a:ea typeface="Times New Roman" panose="02020603050405020304" pitchFamily="18" charset="0"/>
                <a:cs typeface="Times New Roman" panose="02020603050405020304" pitchFamily="18" charset="0"/>
              </a:rPr>
              <a:t>Many other AOD values by wavelength</a:t>
            </a:r>
          </a:p>
          <a:p>
            <a:r>
              <a:rPr lang="en-US" kern="0" dirty="0">
                <a:ea typeface="Times New Roman" panose="02020603050405020304" pitchFamily="18" charset="0"/>
                <a:cs typeface="Times New Roman" panose="02020603050405020304" pitchFamily="18" charset="0"/>
              </a:rPr>
              <a:t>Clean data starts after line 7 (use </a:t>
            </a:r>
            <a:r>
              <a:rPr lang="en-US" kern="0" dirty="0" err="1">
                <a:ea typeface="Times New Roman" panose="02020603050405020304" pitchFamily="18" charset="0"/>
                <a:cs typeface="Times New Roman" panose="02020603050405020304" pitchFamily="18" charset="0"/>
              </a:rPr>
              <a:t>skiprows</a:t>
            </a:r>
            <a:r>
              <a:rPr lang="en-US" kern="0" dirty="0">
                <a:ea typeface="Times New Roman" panose="02020603050405020304" pitchFamily="18" charset="0"/>
                <a:cs typeface="Times New Roman" panose="02020603050405020304" pitchFamily="18" charset="0"/>
              </a:rPr>
              <a:t>=6 in Python)</a:t>
            </a:r>
          </a:p>
          <a:p>
            <a:r>
              <a:rPr lang="en-US" kern="0" dirty="0">
                <a:ea typeface="Times New Roman" panose="02020603050405020304" pitchFamily="18" charset="0"/>
                <a:cs typeface="Times New Roman" panose="02020603050405020304" pitchFamily="18" charset="0"/>
              </a:rPr>
              <a:t>Rows contain AOD data (e.g., AOD_500nm, </a:t>
            </a:r>
            <a:r>
              <a:rPr lang="en-US" kern="0" dirty="0" err="1">
                <a:ea typeface="Times New Roman" panose="02020603050405020304" pitchFamily="18" charset="0"/>
                <a:cs typeface="Times New Roman" panose="02020603050405020304" pitchFamily="18" charset="0"/>
              </a:rPr>
              <a:t>Angstrom_Exponent</a:t>
            </a:r>
            <a:r>
              <a:rPr lang="en-US" kern="0" dirty="0">
                <a:ea typeface="Times New Roman" panose="02020603050405020304" pitchFamily="18" charset="0"/>
                <a:cs typeface="Times New Roman" panose="02020603050405020304" pitchFamily="18" charset="0"/>
              </a:rPr>
              <a:t>, etc.)</a:t>
            </a:r>
            <a:endParaRPr lang="en-US" kern="100" dirty="0"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r>
              <a:rPr lang="en-US" dirty="0"/>
              <a:t>-999 values indicate missing or invalid data</a:t>
            </a:r>
          </a:p>
          <a:p>
            <a:endParaRPr lang="en-US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EE3CE5C0-9931-FD5A-0B5A-59ADF7EDA6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0837" y="3429000"/>
            <a:ext cx="9853514" cy="3292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865095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456EA0AD-E8E3-A806-AD32-8CDA24E54CA3}"/>
              </a:ext>
            </a:extLst>
          </p:cNvPr>
          <p:cNvSpPr txBox="1">
            <a:spLocks/>
          </p:cNvSpPr>
          <p:nvPr/>
        </p:nvSpPr>
        <p:spPr>
          <a:xfrm>
            <a:off x="146849" y="79616"/>
            <a:ext cx="11719420" cy="679508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600" dirty="0"/>
              <a:t>Data Reading and Visualization in Python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6C5346C-1845-6C01-A83F-16C893F9BB1F}"/>
              </a:ext>
            </a:extLst>
          </p:cNvPr>
          <p:cNvSpPr txBox="1"/>
          <p:nvPr/>
        </p:nvSpPr>
        <p:spPr>
          <a:xfrm>
            <a:off x="1639218" y="1563806"/>
            <a:ext cx="668115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/>
              <a:t>Load and Explore AERONET in Python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F8662CDB-4E7B-70FF-1135-A38C585F05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83480" y="2361430"/>
            <a:ext cx="7875013" cy="35821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748477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5C5185F-A8F0-F375-1941-D71F2968E36A}"/>
              </a:ext>
            </a:extLst>
          </p:cNvPr>
          <p:cNvSpPr txBox="1"/>
          <p:nvPr/>
        </p:nvSpPr>
        <p:spPr>
          <a:xfrm>
            <a:off x="433477" y="525970"/>
            <a:ext cx="609456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 Monthly Averages or Seasonal Trends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6D50712-4B45-22D0-9F78-B439764747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1115" y="977645"/>
            <a:ext cx="5235394" cy="2004234"/>
          </a:xfrm>
          <a:prstGeom prst="rect">
            <a:avLst/>
          </a:prstGeom>
        </p:spPr>
      </p:pic>
      <p:pic>
        <p:nvPicPr>
          <p:cNvPr id="7" name="Picture 6" descr="A graph with blue bars&#10;&#10;AI-generated content may be incorrect.">
            <a:extLst>
              <a:ext uri="{FF2B5EF4-FFF2-40B4-BE49-F238E27FC236}">
                <a16:creationId xmlns:a16="http://schemas.microsoft.com/office/drawing/2014/main" id="{100CE713-14D8-250C-97B3-BA9EE5A2D98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64848" y="483882"/>
            <a:ext cx="3657600" cy="284480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C10A6AB7-9798-05B4-51D0-A804C2029F5E}"/>
              </a:ext>
            </a:extLst>
          </p:cNvPr>
          <p:cNvSpPr txBox="1"/>
          <p:nvPr/>
        </p:nvSpPr>
        <p:spPr>
          <a:xfrm>
            <a:off x="433477" y="3956261"/>
            <a:ext cx="609456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AOD vs. Angstrom Exponent Scatterplot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B64D81A8-B261-1DF1-F403-9C7CDF158D7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34212" y="3956261"/>
            <a:ext cx="3657600" cy="2901739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2AA90CF4-7B7B-BE47-6CCB-CF220504D81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1994" y="4490279"/>
            <a:ext cx="6492803" cy="13107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713401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8A9302C-FD55-2246-8A3F-EA87E9C36D0E}"/>
              </a:ext>
            </a:extLst>
          </p:cNvPr>
          <p:cNvSpPr txBox="1"/>
          <p:nvPr/>
        </p:nvSpPr>
        <p:spPr>
          <a:xfrm>
            <a:off x="634776" y="971272"/>
            <a:ext cx="609456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Precipitable Water vs. AOD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E02BE80-7DED-DE18-7122-97EE88D547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4776" y="1340604"/>
            <a:ext cx="6264183" cy="1303133"/>
          </a:xfrm>
          <a:prstGeom prst="rect">
            <a:avLst/>
          </a:prstGeom>
        </p:spPr>
      </p:pic>
      <p:pic>
        <p:nvPicPr>
          <p:cNvPr id="7" name="Picture 6" descr="A graph of water vapor&#10;&#10;AI-generated content may be incorrect.">
            <a:extLst>
              <a:ext uri="{FF2B5EF4-FFF2-40B4-BE49-F238E27FC236}">
                <a16:creationId xmlns:a16="http://schemas.microsoft.com/office/drawing/2014/main" id="{C19D70DE-E3A3-45F0-4DB6-3F107C38359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73807" y="552450"/>
            <a:ext cx="3657600" cy="287655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77AAA7BF-11AE-1A87-616B-17A53F97629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2397" y="3635093"/>
            <a:ext cx="6256562" cy="1882303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F67EC99F-B37A-A8FE-5CF3-90363E125E12}"/>
              </a:ext>
            </a:extLst>
          </p:cNvPr>
          <p:cNvSpPr txBox="1"/>
          <p:nvPr/>
        </p:nvSpPr>
        <p:spPr>
          <a:xfrm>
            <a:off x="719586" y="3244334"/>
            <a:ext cx="609456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Geolocate AERONET station.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03C2540D-C632-9F34-4A02-EBEF9BBE9CE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90902" y="4009521"/>
            <a:ext cx="3823409" cy="22960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085806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4A0AD507-8922-C916-65FB-228E536BEC8D}"/>
              </a:ext>
            </a:extLst>
          </p:cNvPr>
          <p:cNvSpPr txBox="1"/>
          <p:nvPr/>
        </p:nvSpPr>
        <p:spPr>
          <a:xfrm>
            <a:off x="692269" y="130199"/>
            <a:ext cx="609456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/>
              <a:t>AOD Time Series Plot (500 nm)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0EDDD29-069C-7BB8-E5DB-B76F033158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2269" y="755765"/>
            <a:ext cx="5768346" cy="4082114"/>
          </a:xfrm>
          <a:prstGeom prst="rect">
            <a:avLst/>
          </a:prstGeom>
        </p:spPr>
      </p:pic>
      <p:pic>
        <p:nvPicPr>
          <p:cNvPr id="9" name="Picture 8" descr="A graph showing a line of a graph&#10;&#10;AI-generated content may be incorrect.">
            <a:extLst>
              <a:ext uri="{FF2B5EF4-FFF2-40B4-BE49-F238E27FC236}">
                <a16:creationId xmlns:a16="http://schemas.microsoft.com/office/drawing/2014/main" id="{BBCF82EF-8629-AE9B-6151-4736D76D167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64052" y="4593185"/>
            <a:ext cx="5486400" cy="22648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360366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99ED5833-B85B-4103-8A3B-CAB0308E6C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44601D4-F03D-241A-2EB1-729F33C6F633}"/>
              </a:ext>
            </a:extLst>
          </p:cNvPr>
          <p:cNvSpPr txBox="1"/>
          <p:nvPr/>
        </p:nvSpPr>
        <p:spPr>
          <a:xfrm>
            <a:off x="1318951" y="-140637"/>
            <a:ext cx="9795638" cy="73324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3600" b="1" dirty="0">
                <a:latin typeface="+mj-lt"/>
                <a:ea typeface="+mj-ea"/>
                <a:cs typeface="+mj-cs"/>
              </a:rPr>
              <a:t>AOD Variability by Weekday and Month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10F9CFB-0598-D67C-DDFE-0E681FE6478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1628" b="-3"/>
          <a:stretch>
            <a:fillRect/>
          </a:stretch>
        </p:blipFill>
        <p:spPr>
          <a:xfrm>
            <a:off x="3332819" y="733245"/>
            <a:ext cx="8621644" cy="5779698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F266AC6D-257C-5BCC-8C54-F2DE71429E3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2419" y="1205084"/>
            <a:ext cx="3200400" cy="31615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268666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2B6AC89-67D2-72E8-7BD4-766EB73F41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650" y="49237"/>
            <a:ext cx="3711262" cy="6759526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10C84AF4-A6B7-52EC-CE30-CA33790F21C1}"/>
              </a:ext>
            </a:extLst>
          </p:cNvPr>
          <p:cNvSpPr txBox="1"/>
          <p:nvPr/>
        </p:nvSpPr>
        <p:spPr>
          <a:xfrm>
            <a:off x="8177842" y="506466"/>
            <a:ext cx="6479768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/>
              <a:t>Weekday Variability of AOD </a:t>
            </a:r>
          </a:p>
          <a:p>
            <a:r>
              <a:rPr lang="en-US" sz="2000" b="1" dirty="0"/>
              <a:t>Across Year and Seasons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74F28AC-1471-49DE-171A-7F0254B69D7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95" t="11509"/>
          <a:stretch>
            <a:fillRect/>
          </a:stretch>
        </p:blipFill>
        <p:spPr>
          <a:xfrm>
            <a:off x="4649638" y="2812210"/>
            <a:ext cx="6869562" cy="404578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70B91EB-D39B-B5AB-9122-312643857EF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34451" y="69010"/>
            <a:ext cx="3941168" cy="26051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393494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8C30DF-76D2-53D3-703B-3A702B3FC9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593178" y="5446295"/>
            <a:ext cx="1760621" cy="73066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3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Thanks</a:t>
            </a:r>
          </a:p>
        </p:txBody>
      </p:sp>
    </p:spTree>
    <p:extLst>
      <p:ext uri="{BB962C8B-B14F-4D97-AF65-F5344CB8AC3E}">
        <p14:creationId xmlns:p14="http://schemas.microsoft.com/office/powerpoint/2010/main" val="221000233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8287</TotalTime>
  <Words>561</Words>
  <Application>Microsoft Office PowerPoint</Application>
  <PresentationFormat>Widescreen</PresentationFormat>
  <Paragraphs>99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5" baseType="lpstr">
      <vt:lpstr>Aptos</vt:lpstr>
      <vt:lpstr>Aptos Display</vt:lpstr>
      <vt:lpstr>Arial</vt:lpstr>
      <vt:lpstr>Calibri</vt:lpstr>
      <vt:lpstr>Courier New</vt:lpstr>
      <vt:lpstr>Symbol</vt:lpstr>
      <vt:lpstr>Times New Roman</vt:lpstr>
      <vt:lpstr>Wingdings</vt:lpstr>
      <vt:lpstr>Office Theme</vt:lpstr>
      <vt:lpstr>Getting Started with AERONET: Downloading and Analyzing Aerosol Data</vt:lpstr>
      <vt:lpstr>PowerPoint Presentation</vt:lpstr>
      <vt:lpstr>What Does AERONET Measure?</vt:lpstr>
      <vt:lpstr>Accessing the Data</vt:lpstr>
      <vt:lpstr>PowerPoint Presentation</vt:lpstr>
      <vt:lpstr>PowerPoint Presentation</vt:lpstr>
      <vt:lpstr>Data Extraction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Namdari, Soodabeh - (snamdari)</dc:creator>
  <cp:lastModifiedBy>Namdari, Soodabeh - (snamdari)</cp:lastModifiedBy>
  <cp:revision>26</cp:revision>
  <dcterms:created xsi:type="dcterms:W3CDTF">2025-05-01T19:37:20Z</dcterms:created>
  <dcterms:modified xsi:type="dcterms:W3CDTF">2025-08-07T23:52:01Z</dcterms:modified>
</cp:coreProperties>
</file>